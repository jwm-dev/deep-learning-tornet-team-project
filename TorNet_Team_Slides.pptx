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70632"/>
            <a:ext cx="8961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Tornado onset from 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402336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898989"/>
                </a:solidFill>
                <a:latin typeface="Arial"/>
              </a:rPr>
              <a:t>Two experiments with a pretrained detector:
current-scan detection and short-horizon onset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5596128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898989"/>
                </a:solidFill>
                <a:latin typeface="Arial"/>
              </a:rPr>
              <a:t>Jake Van Slyke, Jeffrey Gregory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>
                <a:solidFill>
                  <a:srgbClr val="898989"/>
                </a:solidFill>
                <a:latin typeface="Arial"/>
              </a:rPr>
              <a:t>2026-10-15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450">
                <a:solidFill>
                  <a:srgbClr val="000000"/>
                </a:solidFill>
                <a:latin typeface="Arial"/>
              </a:rPr>
              <a:t>•  </a:t>
            </a:r>
            <a:r>
              <a:rPr sz="2450" b="0">
                <a:solidFill>
                  <a:srgbClr val="000000"/>
                </a:solidFill>
                <a:latin typeface="Arial"/>
              </a:rPr>
              <a:t>TorNet is a pretrained </a:t>
            </a:r>
            <a:r>
              <a:rPr sz="2450" b="1">
                <a:solidFill>
                  <a:srgbClr val="000000"/>
                </a:solidFill>
                <a:latin typeface="Arial"/>
              </a:rPr>
              <a:t>tornado detector</a:t>
            </a:r>
            <a:r>
              <a:rPr sz="2450" b="0">
                <a:solidFill>
                  <a:srgbClr val="000000"/>
                </a:solidFill>
                <a:latin typeface="Arial"/>
              </a:rPr>
              <a:t>: it reads radar features from the most recent observed scan.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450">
                <a:solidFill>
                  <a:srgbClr val="000000"/>
                </a:solidFill>
                <a:latin typeface="Arial"/>
              </a:rPr>
              <a:t>•  </a:t>
            </a:r>
            <a:r>
              <a:rPr sz="2450" b="0">
                <a:solidFill>
                  <a:srgbClr val="000000"/>
                </a:solidFill>
                <a:latin typeface="Arial"/>
              </a:rPr>
              <a:t>A good detection score is not, by itself, proof of an </a:t>
            </a:r>
            <a:r>
              <a:rPr sz="2450" b="1">
                <a:solidFill>
                  <a:srgbClr val="000000"/>
                </a:solidFill>
                <a:latin typeface="Arial"/>
              </a:rPr>
              <a:t>advance forecast</a:t>
            </a:r>
            <a:r>
              <a:rPr sz="245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450">
                <a:solidFill>
                  <a:srgbClr val="000000"/>
                </a:solidFill>
                <a:latin typeface="Arial"/>
              </a:rPr>
              <a:t>•  </a:t>
            </a:r>
            <a:r>
              <a:rPr sz="2450" b="0">
                <a:solidFill>
                  <a:srgbClr val="000000"/>
                </a:solidFill>
                <a:latin typeface="Arial"/>
              </a:rPr>
              <a:t>We asked two questions: can the detector be improved at its own task, and can its features predict the next +5 and +10 minutes?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Two studies, two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430">
                <a:solidFill>
                  <a:srgbClr val="000000"/>
                </a:solidFill>
                <a:latin typeface="Arial"/>
              </a:rPr>
              <a:t>•  </a:t>
            </a:r>
            <a:r>
              <a:rPr sz="2430" b="1">
                <a:solidFill>
                  <a:srgbClr val="000000"/>
                </a:solidFill>
                <a:latin typeface="Arial"/>
              </a:rPr>
              <a:t>Study A:</a:t>
            </a:r>
            <a:r>
              <a:rPr sz="2430" b="0">
                <a:solidFill>
                  <a:srgbClr val="000000"/>
                </a:solidFill>
                <a:latin typeface="Arial"/>
              </a:rPr>
              <a:t> Does a small adaptation improve tornado detection in the latest scan?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430">
                <a:solidFill>
                  <a:srgbClr val="000000"/>
                </a:solidFill>
                <a:latin typeface="Arial"/>
              </a:rPr>
              <a:t>•  </a:t>
            </a:r>
            <a:r>
              <a:rPr sz="2430" b="1">
                <a:solidFill>
                  <a:srgbClr val="000000"/>
                </a:solidFill>
                <a:latin typeface="Arial"/>
              </a:rPr>
              <a:t>Study B:</a:t>
            </a:r>
            <a:r>
              <a:rPr sz="2430" b="0">
                <a:solidFill>
                  <a:srgbClr val="000000"/>
                </a:solidFill>
                <a:latin typeface="Arial"/>
              </a:rPr>
              <a:t> Given the two oldest scans, can a new head predict tornado labels in the next two scans?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430">
                <a:solidFill>
                  <a:srgbClr val="000000"/>
                </a:solidFill>
                <a:latin typeface="Arial"/>
              </a:rPr>
              <a:t>•  </a:t>
            </a:r>
            <a:r>
              <a:rPr sz="2430" b="0">
                <a:solidFill>
                  <a:srgbClr val="000000"/>
                </a:solidFill>
                <a:latin typeface="Arial"/>
              </a:rPr>
              <a:t>These are </a:t>
            </a:r>
            <a:r>
              <a:rPr sz="2430" b="1">
                <a:solidFill>
                  <a:srgbClr val="000000"/>
                </a:solidFill>
                <a:latin typeface="Arial"/>
              </a:rPr>
              <a:t>parallel studies</a:t>
            </a:r>
            <a:r>
              <a:rPr sz="2430" b="0">
                <a:solidFill>
                  <a:srgbClr val="000000"/>
                </a:solidFill>
                <a:latin typeface="Arial"/>
              </a:rPr>
              <a:t>, not five successive steps in one controlled experiment.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The radar and the test 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•  </a:t>
            </a:r>
            <a:r>
              <a:rPr sz="2400" b="0">
                <a:solidFill>
                  <a:srgbClr val="000000"/>
                </a:solidFill>
                <a:latin typeface="Arial"/>
              </a:rPr>
              <a:t>TorNet v1.1 contains </a:t>
            </a:r>
            <a:r>
              <a:rPr sz="2400" b="1">
                <a:solidFill>
                  <a:srgbClr val="000000"/>
                </a:solidFill>
                <a:latin typeface="Arial"/>
              </a:rPr>
              <a:t>203,133</a:t>
            </a:r>
            <a:r>
              <a:rPr sz="2400" b="0">
                <a:solidFill>
                  <a:srgbClr val="000000"/>
                </a:solidFill>
                <a:latin typeface="Arial"/>
              </a:rPr>
              <a:t> storm-centered samples from 2013 to 2022.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•  </a:t>
            </a:r>
            <a:r>
              <a:rPr sz="2400" b="0">
                <a:solidFill>
                  <a:srgbClr val="000000"/>
                </a:solidFill>
                <a:latin typeface="Arial"/>
              </a:rPr>
              <a:t>Each sample contains </a:t>
            </a:r>
            <a:r>
              <a:rPr sz="2400" b="1">
                <a:solidFill>
                  <a:srgbClr val="000000"/>
                </a:solidFill>
                <a:latin typeface="Arial"/>
              </a:rPr>
              <a:t>four scans</a:t>
            </a:r>
            <a:r>
              <a:rPr sz="2400" b="0">
                <a:solidFill>
                  <a:srgbClr val="000000"/>
                </a:solidFill>
                <a:latin typeface="Arial"/>
              </a:rPr>
              <a:t>, about five minutes apart, and a tornado label at every scan.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00">
                <a:solidFill>
                  <a:srgbClr val="000000"/>
                </a:solidFill>
                <a:latin typeface="Arial"/>
              </a:rPr>
              <a:t>•  </a:t>
            </a:r>
            <a:r>
              <a:rPr sz="2400" b="0">
                <a:solidFill>
                  <a:srgbClr val="000000"/>
                </a:solidFill>
                <a:latin typeface="Arial"/>
              </a:rPr>
              <a:t>Both studies use 2014–2015, but </a:t>
            </a:r>
            <a:r>
              <a:rPr sz="2400" b="1">
                <a:solidFill>
                  <a:srgbClr val="000000"/>
                </a:solidFill>
                <a:latin typeface="Arial"/>
              </a:rPr>
              <a:t>different splits, targets and metrics</a:t>
            </a:r>
            <a:r>
              <a:rPr sz="2400" b="0">
                <a:solidFill>
                  <a:srgbClr val="000000"/>
                </a:solidFill>
                <a:latin typeface="Arial"/>
              </a:rPr>
              <a:t>. Their scores cannot be directly ranked.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A: frozen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480">
                <a:solidFill>
                  <a:srgbClr val="000000"/>
                </a:solidFill>
                <a:latin typeface="Arial"/>
              </a:rPr>
              <a:t>•  </a:t>
            </a:r>
            <a:r>
              <a:rPr sz="2480" b="0">
                <a:solidFill>
                  <a:srgbClr val="000000"/>
                </a:solidFill>
                <a:latin typeface="Arial"/>
              </a:rPr>
              <a:t>Jeffrey froze the published CNN and pooled each scan into </a:t>
            </a:r>
            <a:r>
              <a:rPr sz="2480" b="1">
                <a:solidFill>
                  <a:srgbClr val="000000"/>
                </a:solidFill>
                <a:latin typeface="Arial"/>
              </a:rPr>
              <a:t>384 features</a:t>
            </a:r>
            <a:r>
              <a:rPr sz="248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480">
                <a:solidFill>
                  <a:srgbClr val="000000"/>
                </a:solidFill>
                <a:latin typeface="Arial"/>
              </a:rPr>
              <a:t>•  </a:t>
            </a:r>
            <a:r>
              <a:rPr sz="2480" b="0">
                <a:solidFill>
                  <a:srgbClr val="000000"/>
                </a:solidFill>
                <a:latin typeface="Arial"/>
              </a:rPr>
              <a:t>A </a:t>
            </a:r>
            <a:r>
              <a:rPr sz="2480" b="1">
                <a:solidFill>
                  <a:srgbClr val="000000"/>
                </a:solidFill>
                <a:latin typeface="Arial"/>
              </a:rPr>
              <a:t>385-parameter linear head</a:t>
            </a:r>
            <a:r>
              <a:rPr sz="2480" b="0">
                <a:solidFill>
                  <a:srgbClr val="000000"/>
                </a:solidFill>
                <a:latin typeface="Arial"/>
              </a:rPr>
              <a:t> predicted tornado presence in the current scan.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480">
                <a:solidFill>
                  <a:srgbClr val="000000"/>
                </a:solidFill>
                <a:latin typeface="Arial"/>
              </a:rPr>
              <a:t>•  </a:t>
            </a:r>
            <a:r>
              <a:rPr sz="2480" b="0">
                <a:solidFill>
                  <a:srgbClr val="000000"/>
                </a:solidFill>
                <a:latin typeface="Arial"/>
              </a:rPr>
              <a:t>Three changes were compared </a:t>
            </a:r>
            <a:r>
              <a:rPr sz="2480" b="1">
                <a:solidFill>
                  <a:srgbClr val="000000"/>
                </a:solidFill>
                <a:latin typeface="Arial"/>
              </a:rPr>
              <a:t>independently</a:t>
            </a:r>
            <a:r>
              <a:rPr sz="2480" b="0">
                <a:solidFill>
                  <a:srgbClr val="000000"/>
                </a:solidFill>
                <a:latin typeface="Arial"/>
              </a:rPr>
              <a:t> with that baseline: history, hard negatives, and larger head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A: four configurations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2404872"/>
          <a:ext cx="90525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one change from baseline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validation AP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one scan, linear head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trained baseline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0.658 ± .005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two-scan average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add previous scan; same head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0.675 ± .001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warned negatives ×2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weight hard-negative training cases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0.656 ± .005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current scan, MLP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use larger nonlinear classifier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0.670 ± .007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345936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Mean validation AP across seeds 42, 43, and 44. The selection rule chose two-scan averaging.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A: the held-out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2514600"/>
          <a:ext cx="905256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1344168"/>
                <a:gridCol w="2157984"/>
                <a:gridCol w="2121408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test AP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positives found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false alarms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released TorNet detector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0.517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68 of 89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one-scan linear head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70 of 89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two-scan mean, linear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0.548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69 of 89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10" b="0">
                          <a:solidFill>
                            <a:srgbClr val="000000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989320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The history model ranked clips better, but the operating threshold produced many more false alarms.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A: what it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30">
                <a:solidFill>
                  <a:srgbClr val="000000"/>
                </a:solidFill>
                <a:latin typeface="Arial"/>
              </a:rPr>
              <a:t>•  </a:t>
            </a:r>
            <a:r>
              <a:rPr sz="2430" b="0">
                <a:solidFill>
                  <a:srgbClr val="000000"/>
                </a:solidFill>
                <a:latin typeface="Arial"/>
              </a:rPr>
              <a:t>Test AP moved </a:t>
            </a:r>
            <a:r>
              <a:rPr sz="2430" b="1">
                <a:solidFill>
                  <a:srgbClr val="000000"/>
                </a:solidFill>
                <a:latin typeface="Arial"/>
              </a:rPr>
              <a:t>+0.031</a:t>
            </a:r>
            <a:r>
              <a:rPr sz="2430" b="0">
                <a:solidFill>
                  <a:srgbClr val="000000"/>
                </a:solidFill>
                <a:latin typeface="Arial"/>
              </a:rPr>
              <a:t> over the released CNN, but the paired group-bootstrap interval was </a:t>
            </a:r>
            <a:r>
              <a:rPr sz="2430" b="1">
                <a:solidFill>
                  <a:srgbClr val="000000"/>
                </a:solidFill>
                <a:latin typeface="Arial"/>
              </a:rPr>
              <a:t>[−0.061, +0.155]</a:t>
            </a:r>
            <a:r>
              <a:rPr sz="243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30">
                <a:solidFill>
                  <a:srgbClr val="000000"/>
                </a:solidFill>
                <a:latin typeface="Arial"/>
              </a:rPr>
              <a:t>•  </a:t>
            </a:r>
            <a:r>
              <a:rPr sz="2430" b="0">
                <a:solidFill>
                  <a:srgbClr val="000000"/>
                </a:solidFill>
                <a:latin typeface="Arial"/>
              </a:rPr>
              <a:t>It found </a:t>
            </a:r>
            <a:r>
              <a:rPr sz="2430" b="1">
                <a:solidFill>
                  <a:srgbClr val="000000"/>
                </a:solidFill>
                <a:latin typeface="Arial"/>
              </a:rPr>
              <a:t>one more positive clip</a:t>
            </a:r>
            <a:r>
              <a:rPr sz="2430" b="0">
                <a:solidFill>
                  <a:srgbClr val="000000"/>
                </a:solidFill>
                <a:latin typeface="Arial"/>
              </a:rPr>
              <a:t> and produced </a:t>
            </a:r>
            <a:r>
              <a:rPr sz="2430" b="1">
                <a:solidFill>
                  <a:srgbClr val="000000"/>
                </a:solidFill>
                <a:latin typeface="Arial"/>
              </a:rPr>
              <a:t>288 more false alarms</a:t>
            </a:r>
            <a:r>
              <a:rPr sz="2430" b="0">
                <a:solidFill>
                  <a:srgbClr val="000000"/>
                </a:solidFill>
                <a:latin typeface="Arial"/>
              </a:rPr>
              <a:t> at similar test recall.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30">
                <a:solidFill>
                  <a:srgbClr val="000000"/>
                </a:solidFill>
                <a:latin typeface="Arial"/>
              </a:rPr>
              <a:t>•  </a:t>
            </a:r>
            <a:r>
              <a:rPr sz="2430" b="0">
                <a:solidFill>
                  <a:srgbClr val="000000"/>
                </a:solidFill>
                <a:latin typeface="Arial"/>
              </a:rPr>
              <a:t>History may help ranking; these results do </a:t>
            </a:r>
            <a:r>
              <a:rPr sz="2430" b="1">
                <a:solidFill>
                  <a:srgbClr val="000000"/>
                </a:solidFill>
                <a:latin typeface="Arial"/>
              </a:rPr>
              <a:t>not</a:t>
            </a:r>
            <a:r>
              <a:rPr sz="2430" b="0">
                <a:solidFill>
                  <a:srgbClr val="000000"/>
                </a:solidFill>
                <a:latin typeface="Arial"/>
              </a:rPr>
              <a:t> establish a reliable operational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B: the onset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2470">
                <a:solidFill>
                  <a:srgbClr val="000000"/>
                </a:solidFill>
                <a:latin typeface="Arial"/>
              </a:rPr>
              <a:t>•  </a:t>
            </a:r>
            <a:r>
              <a:rPr sz="2470" b="0">
                <a:solidFill>
                  <a:srgbClr val="000000"/>
                </a:solidFill>
                <a:latin typeface="Arial"/>
              </a:rPr>
              <a:t>Jake used the </a:t>
            </a:r>
            <a:r>
              <a:rPr sz="2470" b="1">
                <a:solidFill>
                  <a:srgbClr val="000000"/>
                </a:solidFill>
                <a:latin typeface="Arial"/>
              </a:rPr>
              <a:t>two oldest</a:t>
            </a:r>
            <a:r>
              <a:rPr sz="2470" b="0">
                <a:solidFill>
                  <a:srgbClr val="000000"/>
                </a:solidFill>
                <a:latin typeface="Arial"/>
              </a:rPr>
              <a:t> scans of each four-scan TorNet sample as the input.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2470">
                <a:solidFill>
                  <a:srgbClr val="000000"/>
                </a:solidFill>
                <a:latin typeface="Arial"/>
              </a:rPr>
              <a:t>•  </a:t>
            </a:r>
            <a:r>
              <a:rPr sz="2470" b="0">
                <a:solidFill>
                  <a:srgbClr val="000000"/>
                </a:solidFill>
                <a:latin typeface="Arial"/>
              </a:rPr>
              <a:t>The pretrained encoder runs on each scan. Its spatial maps are concatenated and a new head predicts </a:t>
            </a:r>
            <a:r>
              <a:rPr sz="2470" b="1">
                <a:solidFill>
                  <a:srgbClr val="000000"/>
                </a:solidFill>
                <a:latin typeface="Arial"/>
              </a:rPr>
              <a:t>+5 and +10 minute</a:t>
            </a:r>
            <a:r>
              <a:rPr sz="2470" b="0">
                <a:solidFill>
                  <a:srgbClr val="000000"/>
                </a:solidFill>
                <a:latin typeface="Arial"/>
              </a:rPr>
              <a:t> labels.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2470">
                <a:solidFill>
                  <a:srgbClr val="000000"/>
                </a:solidFill>
                <a:latin typeface="Arial"/>
              </a:rPr>
              <a:t>•  </a:t>
            </a:r>
            <a:r>
              <a:rPr sz="2470" b="0">
                <a:solidFill>
                  <a:srgbClr val="000000"/>
                </a:solidFill>
                <a:latin typeface="Arial"/>
              </a:rPr>
              <a:t>Run 1 froze the encoder. Run 2 fine-tuned it with a smaller learning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Keeping the onset test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390">
                <a:solidFill>
                  <a:srgbClr val="000000"/>
                </a:solidFill>
                <a:latin typeface="Arial"/>
              </a:rPr>
              <a:t>•  </a:t>
            </a:r>
            <a:r>
              <a:rPr sz="2390" b="0">
                <a:solidFill>
                  <a:srgbClr val="000000"/>
                </a:solidFill>
                <a:latin typeface="Arial"/>
              </a:rPr>
              <a:t>A tornado visible in an input scan is not a meaningful advance-onset success.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390">
                <a:solidFill>
                  <a:srgbClr val="000000"/>
                </a:solidFill>
                <a:latin typeface="Arial"/>
              </a:rPr>
              <a:t>•  </a:t>
            </a:r>
            <a:r>
              <a:rPr sz="2390" b="0">
                <a:solidFill>
                  <a:srgbClr val="000000"/>
                </a:solidFill>
                <a:latin typeface="Arial"/>
              </a:rPr>
              <a:t>The evaluation retains </a:t>
            </a:r>
            <a:r>
              <a:rPr sz="2390" b="1">
                <a:solidFill>
                  <a:srgbClr val="000000"/>
                </a:solidFill>
                <a:latin typeface="Arial"/>
              </a:rPr>
              <a:t>pre-onset cases</a:t>
            </a:r>
            <a:r>
              <a:rPr sz="2390" b="0">
                <a:solidFill>
                  <a:srgbClr val="000000"/>
                </a:solidFill>
                <a:latin typeface="Arial"/>
              </a:rPr>
              <a:t>: both inputs labeled non-tornadic, final (+10 min) target tornadic.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390">
                <a:solidFill>
                  <a:srgbClr val="000000"/>
                </a:solidFill>
                <a:latin typeface="Arial"/>
              </a:rPr>
              <a:t>•  </a:t>
            </a:r>
            <a:r>
              <a:rPr sz="2390" b="0">
                <a:solidFill>
                  <a:srgbClr val="000000"/>
                </a:solidFill>
                <a:latin typeface="Arial"/>
              </a:rPr>
              <a:t>There are </a:t>
            </a:r>
            <a:r>
              <a:rPr sz="2390" b="1">
                <a:solidFill>
                  <a:srgbClr val="000000"/>
                </a:solidFill>
                <a:latin typeface="Arial"/>
              </a:rPr>
              <a:t>495 selected cases</a:t>
            </a:r>
            <a:r>
              <a:rPr sz="2390" b="0">
                <a:solidFill>
                  <a:srgbClr val="000000"/>
                </a:solidFill>
                <a:latin typeface="Arial"/>
              </a:rPr>
              <a:t>; 208 were already positive at +5 minutes. Warned storms supply difficult negatives.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B: onset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2386584"/>
          <a:ext cx="9052560" cy="330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240280"/>
                <a:gridCol w="2240280"/>
              </a:tblGrid>
              <a:tr h="557784">
                <a:tc>
                  <a:txBody>
                    <a:bodyPr/>
                    <a:lstStyle/>
                    <a:p>
                      <a:pPr algn="l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pre-onset WC AUC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+5 min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80" b="1">
                          <a:solidFill>
                            <a:srgbClr val="FFFFFF"/>
                          </a:solidFill>
                          <a:latin typeface="Arial"/>
                        </a:rPr>
                        <a:t>+10 min</a:t>
                      </a:r>
                    </a:p>
                  </a:txBody>
                  <a:tcPr marL="100584" marR="73152" marT="36576" marB="18288" anchor="ctr">
                    <a:solidFill>
                      <a:srgbClr val="4F84BE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detector, latest observed scan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0.731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0.726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frozen encoder, new head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0.699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0.710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fine-tuned encoder, new head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0.724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0.728</a:t>
                      </a:r>
                    </a:p>
                  </a:txBody>
                  <a:tcPr marL="100584" marR="73152" marT="36576" marB="18288" anchor="ctr">
                    <a:solidFill>
                      <a:srgbClr val="CFD8E8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detector, actual future scan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0.769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30" b="0">
                          <a:solidFill>
                            <a:srgbClr val="000000"/>
                          </a:solidFill>
                          <a:latin typeface="Arial"/>
                        </a:rPr>
                        <a:t>0.797</a:t>
                      </a:r>
                    </a:p>
                  </a:txBody>
                  <a:tcPr marL="100584" marR="73152" marT="36576" marB="18288" anchor="ctr">
                    <a:solidFill>
                      <a:srgbClr val="E5EAF4"/>
                    </a:solidFill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6446520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000000"/>
                </a:solidFill>
                <a:latin typeface="Arial"/>
              </a:rPr>
              <a:t>The last row is a future-scan oracle reference, not a performance limit for all forecasting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B: the picture</a:t>
            </a:r>
          </a:p>
        </p:txBody>
      </p:sp>
      <p:pic>
        <p:nvPicPr>
          <p:cNvPr id="3" name="Picture 2" descr="slide12_replacemen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176272"/>
            <a:ext cx="86410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Study B: what it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With the encoder frozen, the onset head </a:t>
            </a:r>
            <a:r>
              <a:rPr sz="2420" b="1">
                <a:solidFill>
                  <a:srgbClr val="000000"/>
                </a:solidFill>
                <a:latin typeface="Arial"/>
              </a:rPr>
              <a:t>underperformed</a:t>
            </a:r>
            <a:r>
              <a:rPr sz="2420" b="0">
                <a:solidFill>
                  <a:srgbClr val="000000"/>
                </a:solidFill>
                <a:latin typeface="Arial"/>
              </a:rPr>
              <a:t> the latest-scan detector at both horizons.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Fine-tuning recovered roughly the baseline: </a:t>
            </a:r>
            <a:r>
              <a:rPr sz="2420" b="1">
                <a:solidFill>
                  <a:srgbClr val="000000"/>
                </a:solidFill>
                <a:latin typeface="Arial"/>
              </a:rPr>
              <a:t>0.724 versus 0.731</a:t>
            </a:r>
            <a:r>
              <a:rPr sz="2420" b="0">
                <a:solidFill>
                  <a:srgbClr val="000000"/>
                </a:solidFill>
                <a:latin typeface="Arial"/>
              </a:rPr>
              <a:t> at +5; </a:t>
            </a:r>
            <a:r>
              <a:rPr sz="2420" b="1">
                <a:solidFill>
                  <a:srgbClr val="000000"/>
                </a:solidFill>
                <a:latin typeface="Arial"/>
              </a:rPr>
              <a:t>0.728 versus 0.726</a:t>
            </a:r>
            <a:r>
              <a:rPr sz="2420" b="0">
                <a:solidFill>
                  <a:srgbClr val="000000"/>
                </a:solidFill>
                <a:latin typeface="Arial"/>
              </a:rPr>
              <a:t> at +10.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The apparent tie does not demonstrate additional lead-time information from this two-scan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What the references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The </a:t>
            </a:r>
            <a:r>
              <a:rPr sz="2420" b="1">
                <a:solidFill>
                  <a:srgbClr val="000000"/>
                </a:solidFill>
                <a:latin typeface="Arial"/>
              </a:rPr>
              <a:t>persistence reference</a:t>
            </a:r>
            <a:r>
              <a:rPr sz="2420" b="0">
                <a:solidFill>
                  <a:srgbClr val="000000"/>
                </a:solidFill>
                <a:latin typeface="Arial"/>
              </a:rPr>
              <a:t> applies the released detector to the newest observed scan and compares it with a future label.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The </a:t>
            </a:r>
            <a:r>
              <a:rPr sz="2420" b="1">
                <a:solidFill>
                  <a:srgbClr val="000000"/>
                </a:solidFill>
                <a:latin typeface="Arial"/>
              </a:rPr>
              <a:t>future-scan oracle</a:t>
            </a:r>
            <a:r>
              <a:rPr sz="2420" b="0">
                <a:solidFill>
                  <a:srgbClr val="000000"/>
                </a:solidFill>
                <a:latin typeface="Arial"/>
              </a:rPr>
              <a:t> feeds the detector radar measurements not yet observed. It is not a theoretical ceiling.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The onset subset was selected using a </a:t>
            </a:r>
            <a:r>
              <a:rPr sz="2420" b="1">
                <a:solidFill>
                  <a:srgbClr val="000000"/>
                </a:solidFill>
                <a:latin typeface="Arial"/>
              </a:rPr>
              <a:t>future outcome</a:t>
            </a:r>
            <a:r>
              <a:rPr sz="2420" b="0">
                <a:solidFill>
                  <a:srgbClr val="000000"/>
                </a:solidFill>
                <a:latin typeface="Arial"/>
              </a:rPr>
              <a:t>; retrospective AUC is not measured deployment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The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2390">
                <a:solidFill>
                  <a:srgbClr val="000000"/>
                </a:solidFill>
                <a:latin typeface="Arial"/>
              </a:rPr>
              <a:t>•  </a:t>
            </a:r>
            <a:r>
              <a:rPr sz="2390" b="0">
                <a:solidFill>
                  <a:srgbClr val="000000"/>
                </a:solidFill>
                <a:latin typeface="Arial"/>
              </a:rPr>
              <a:t>Study A tested only </a:t>
            </a:r>
            <a:r>
              <a:rPr sz="2390" b="1">
                <a:solidFill>
                  <a:srgbClr val="000000"/>
                </a:solidFill>
                <a:latin typeface="Arial"/>
              </a:rPr>
              <a:t>10 storm groups</a:t>
            </a:r>
            <a:r>
              <a:rPr sz="2390" b="0">
                <a:solidFill>
                  <a:srgbClr val="000000"/>
                </a:solidFill>
                <a:latin typeface="Arial"/>
              </a:rPr>
              <a:t>; adjacent radar clips are correlated and pretraining-weather overlap cannot be excluded.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2390">
                <a:solidFill>
                  <a:srgbClr val="000000"/>
                </a:solidFill>
                <a:latin typeface="Arial"/>
              </a:rPr>
              <a:t>•  </a:t>
            </a:r>
            <a:r>
              <a:rPr sz="2390" b="0">
                <a:solidFill>
                  <a:srgbClr val="000000"/>
                </a:solidFill>
                <a:latin typeface="Arial"/>
              </a:rPr>
              <a:t>Study B’s reported intervals resample </a:t>
            </a:r>
            <a:r>
              <a:rPr sz="2390" b="1">
                <a:solidFill>
                  <a:srgbClr val="000000"/>
                </a:solidFill>
                <a:latin typeface="Arial"/>
              </a:rPr>
              <a:t>individual clips</a:t>
            </a:r>
            <a:r>
              <a:rPr sz="2390" b="0">
                <a:solidFill>
                  <a:srgbClr val="000000"/>
                </a:solidFill>
                <a:latin typeface="Arial"/>
              </a:rPr>
              <a:t>, not independent storms; event-level uncertainty may be wider.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2390">
                <a:solidFill>
                  <a:srgbClr val="000000"/>
                </a:solidFill>
                <a:latin typeface="Arial"/>
              </a:rPr>
              <a:t>•  </a:t>
            </a:r>
            <a:r>
              <a:rPr sz="2390" b="0">
                <a:solidFill>
                  <a:srgbClr val="000000"/>
                </a:solidFill>
                <a:latin typeface="Arial"/>
              </a:rPr>
              <a:t>Only </a:t>
            </a:r>
            <a:r>
              <a:rPr sz="2390" b="1">
                <a:solidFill>
                  <a:srgbClr val="000000"/>
                </a:solidFill>
                <a:latin typeface="Arial"/>
              </a:rPr>
              <a:t>2014–2015</a:t>
            </a:r>
            <a:r>
              <a:rPr sz="2390" b="0">
                <a:solidFill>
                  <a:srgbClr val="000000"/>
                </a:solidFill>
                <a:latin typeface="Arial"/>
              </a:rPr>
              <a:t> was examined, and the onset fine-tune had a </a:t>
            </a:r>
            <a:r>
              <a:rPr sz="2390" b="1">
                <a:solidFill>
                  <a:srgbClr val="000000"/>
                </a:solidFill>
                <a:latin typeface="Arial"/>
              </a:rPr>
              <a:t>five-epoch</a:t>
            </a:r>
            <a:r>
              <a:rPr sz="2390" b="0">
                <a:solidFill>
                  <a:srgbClr val="000000"/>
                </a:solidFill>
                <a:latin typeface="Arial"/>
              </a:rPr>
              <a:t> cap.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What we would test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Use </a:t>
            </a:r>
            <a:r>
              <a:rPr sz="2420" b="1">
                <a:solidFill>
                  <a:srgbClr val="000000"/>
                </a:solidFill>
                <a:latin typeface="Arial"/>
              </a:rPr>
              <a:t>longer storm histories</a:t>
            </a:r>
            <a:r>
              <a:rPr sz="2420" b="0">
                <a:solidFill>
                  <a:srgbClr val="000000"/>
                </a:solidFill>
                <a:latin typeface="Arial"/>
              </a:rPr>
              <a:t> and a temporal model that can learn how the radar changes.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Hold out </a:t>
            </a:r>
            <a:r>
              <a:rPr sz="2420" b="1">
                <a:solidFill>
                  <a:srgbClr val="000000"/>
                </a:solidFill>
                <a:latin typeface="Arial"/>
              </a:rPr>
              <a:t>entire weather systems</a:t>
            </a:r>
            <a:r>
              <a:rPr sz="2420" b="0">
                <a:solidFill>
                  <a:srgbClr val="000000"/>
                </a:solidFill>
                <a:latin typeface="Arial"/>
              </a:rPr>
              <a:t>, and measure false alarms, recall and lead time on incoming storms.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420">
                <a:solidFill>
                  <a:srgbClr val="000000"/>
                </a:solidFill>
                <a:latin typeface="Arial"/>
              </a:rPr>
              <a:t>•  </a:t>
            </a:r>
            <a:r>
              <a:rPr sz="2420" b="0">
                <a:solidFill>
                  <a:srgbClr val="000000"/>
                </a:solidFill>
                <a:latin typeface="Arial"/>
              </a:rPr>
              <a:t>Re-run with more years and longer fine-tuning, keeping model selection separate from the final test.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410">
                <a:solidFill>
                  <a:srgbClr val="000000"/>
                </a:solidFill>
                <a:latin typeface="Arial"/>
              </a:rPr>
              <a:t>•  </a:t>
            </a:r>
            <a:r>
              <a:rPr sz="2410" b="0">
                <a:solidFill>
                  <a:srgbClr val="000000"/>
                </a:solidFill>
                <a:latin typeface="Arial"/>
              </a:rPr>
              <a:t>The released detector already discriminates some retrospectively selected storms </a:t>
            </a:r>
            <a:r>
              <a:rPr sz="2410" b="1">
                <a:solidFill>
                  <a:srgbClr val="000000"/>
                </a:solidFill>
                <a:latin typeface="Arial"/>
              </a:rPr>
              <a:t>before</a:t>
            </a:r>
            <a:r>
              <a:rPr sz="2410" b="0">
                <a:solidFill>
                  <a:srgbClr val="000000"/>
                </a:solidFill>
                <a:latin typeface="Arial"/>
              </a:rPr>
              <a:t> the final onset label.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410">
                <a:solidFill>
                  <a:srgbClr val="000000"/>
                </a:solidFill>
                <a:latin typeface="Arial"/>
              </a:rPr>
              <a:t>•  </a:t>
            </a:r>
            <a:r>
              <a:rPr sz="2410" b="0">
                <a:solidFill>
                  <a:srgbClr val="000000"/>
                </a:solidFill>
                <a:latin typeface="Arial"/>
              </a:rPr>
              <a:t>Our adapted detectors did </a:t>
            </a:r>
            <a:r>
              <a:rPr sz="2410" b="1">
                <a:solidFill>
                  <a:srgbClr val="000000"/>
                </a:solidFill>
                <a:latin typeface="Arial"/>
              </a:rPr>
              <a:t>not establish</a:t>
            </a:r>
            <a:r>
              <a:rPr sz="2410" b="0">
                <a:solidFill>
                  <a:srgbClr val="000000"/>
                </a:solidFill>
                <a:latin typeface="Arial"/>
              </a:rPr>
              <a:t> a better or more reliable way to use that information.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410">
                <a:solidFill>
                  <a:srgbClr val="000000"/>
                </a:solidFill>
                <a:latin typeface="Arial"/>
              </a:rPr>
              <a:t>•  </a:t>
            </a:r>
            <a:r>
              <a:rPr sz="2410" b="0">
                <a:solidFill>
                  <a:srgbClr val="000000"/>
                </a:solidFill>
                <a:latin typeface="Arial"/>
              </a:rPr>
              <a:t>The next experiment must test </a:t>
            </a:r>
            <a:r>
              <a:rPr sz="2410" b="1">
                <a:solidFill>
                  <a:srgbClr val="000000"/>
                </a:solidFill>
                <a:latin typeface="Arial"/>
              </a:rPr>
              <a:t>temporal information and independent storms</a:t>
            </a:r>
            <a:r>
              <a:rPr sz="2410" b="0">
                <a:solidFill>
                  <a:srgbClr val="000000"/>
                </a:solidFill>
                <a:latin typeface="Arial"/>
              </a:rPr>
              <a:t>, not just a different readout.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9052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Sources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9424"/>
            <a:ext cx="882396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10">
                <a:solidFill>
                  <a:srgbClr val="000000"/>
                </a:solidFill>
                <a:latin typeface="Arial"/>
              </a:rPr>
              <a:t>•  </a:t>
            </a:r>
            <a:r>
              <a:rPr sz="1910" b="0">
                <a:solidFill>
                  <a:srgbClr val="000000"/>
                </a:solidFill>
                <a:latin typeface="Arial"/>
              </a:rPr>
              <a:t>Veillette et al., </a:t>
            </a:r>
            <a:r>
              <a:rPr sz="1910" b="1">
                <a:solidFill>
                  <a:srgbClr val="000000"/>
                </a:solidFill>
                <a:latin typeface="Arial"/>
              </a:rPr>
              <a:t>TorNet</a:t>
            </a:r>
            <a:r>
              <a:rPr sz="1910" b="0" i="1">
                <a:solidFill>
                  <a:srgbClr val="000000"/>
                </a:solidFill>
                <a:latin typeface="Arial"/>
              </a:rPr>
              <a:t>, Artificial Intelligence for the Earth Systems. DOI: 10.1175/AIES-D-24-0006.1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10">
                <a:solidFill>
                  <a:srgbClr val="000000"/>
                </a:solidFill>
                <a:latin typeface="Arial"/>
              </a:rPr>
              <a:t>•  </a:t>
            </a:r>
            <a:r>
              <a:rPr sz="1910" b="0">
                <a:solidFill>
                  <a:srgbClr val="000000"/>
                </a:solidFill>
                <a:latin typeface="Arial"/>
              </a:rPr>
              <a:t>MIT Lincoln Laboratory: </a:t>
            </a:r>
            <a:r>
              <a:rPr sz="1910" b="1">
                <a:solidFill>
                  <a:srgbClr val="000000"/>
                </a:solidFill>
                <a:latin typeface="Arial"/>
              </a:rPr>
              <a:t>github.com/mit-ll/tornet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10">
                <a:solidFill>
                  <a:srgbClr val="000000"/>
                </a:solidFill>
                <a:latin typeface="Arial"/>
              </a:rPr>
              <a:t>•  </a:t>
            </a:r>
            <a:r>
              <a:rPr sz="1910" b="0">
                <a:solidFill>
                  <a:srgbClr val="000000"/>
                </a:solidFill>
                <a:latin typeface="Arial"/>
              </a:rPr>
              <a:t>Team study: </a:t>
            </a:r>
            <a:r>
              <a:rPr sz="1910" b="1">
                <a:solidFill>
                  <a:srgbClr val="000000"/>
                </a:solidFill>
                <a:latin typeface="Arial"/>
              </a:rPr>
              <a:t>github.com/jwm-dev/deep-learning-tornet-team-project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10">
                <a:solidFill>
                  <a:srgbClr val="000000"/>
                </a:solidFill>
                <a:latin typeface="Arial"/>
              </a:rPr>
              <a:t>•  </a:t>
            </a:r>
            <a:r>
              <a:rPr sz="1910" b="0">
                <a:solidFill>
                  <a:srgbClr val="000000"/>
                </a:solidFill>
                <a:latin typeface="Arial"/>
              </a:rPr>
              <a:t>Jeffrey’s executed study: </a:t>
            </a:r>
            <a:r>
              <a:rPr sz="1910" b="1">
                <a:solidFill>
                  <a:srgbClr val="000000"/>
                </a:solidFill>
                <a:latin typeface="Arial"/>
              </a:rPr>
              <a:t>github.com/jwm-dev/tornet-transfer-learning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